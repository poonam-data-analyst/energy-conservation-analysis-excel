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4" r:id="rId1"/>
  </p:sldMasterIdLst>
  <p:notesMasterIdLst>
    <p:notesMasterId r:id="rId15"/>
  </p:notesMasterIdLst>
  <p:sldIdLst>
    <p:sldId id="256" r:id="rId2"/>
    <p:sldId id="258" r:id="rId3"/>
    <p:sldId id="259" r:id="rId4"/>
    <p:sldId id="263" r:id="rId5"/>
    <p:sldId id="262" r:id="rId6"/>
    <p:sldId id="261" r:id="rId7"/>
    <p:sldId id="260" r:id="rId8"/>
    <p:sldId id="264" r:id="rId9"/>
    <p:sldId id="265" r:id="rId10"/>
    <p:sldId id="266" r:id="rId11"/>
    <p:sldId id="270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53"/>
    <p:restoredTop sz="94648"/>
  </p:normalViewPr>
  <p:slideViewPr>
    <p:cSldViewPr snapToGrid="0">
      <p:cViewPr varScale="1">
        <p:scale>
          <a:sx n="83" d="100"/>
          <a:sy n="83" d="100"/>
        </p:scale>
        <p:origin x="47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707922-D188-4144-BBC6-A9521E39B57B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A3A8F-5B50-E94F-AC9F-097461D2E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591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A3A8F-5B50-E94F-AC9F-097461D2E45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06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836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170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541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67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294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0241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544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202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3/16/2026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403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935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620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434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3E2E3F3-7B61-A85E-CBA0-CA4B16DAF50A}"/>
              </a:ext>
            </a:extLst>
          </p:cNvPr>
          <p:cNvSpPr/>
          <p:nvPr/>
        </p:nvSpPr>
        <p:spPr>
          <a:xfrm>
            <a:off x="9601200" y="3976096"/>
            <a:ext cx="1214438" cy="123884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55BC24-C91E-7F7F-7C91-FA94154F40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000" b="1" i="1" dirty="0">
                <a:solidFill>
                  <a:schemeClr val="tx1"/>
                </a:solidFill>
                <a:effectLst/>
                <a:latin typeface="Times"/>
              </a:rPr>
              <a:t>A Case study on</a:t>
            </a:r>
            <a:br>
              <a:rPr lang="en-US" sz="2000" b="1" i="1" dirty="0">
                <a:solidFill>
                  <a:schemeClr val="tx1"/>
                </a:solidFill>
                <a:effectLst/>
                <a:latin typeface="Times"/>
              </a:rPr>
            </a:br>
            <a:r>
              <a:rPr lang="en-US" sz="2000" b="1" i="1" dirty="0">
                <a:solidFill>
                  <a:schemeClr val="tx1"/>
                </a:solidFill>
                <a:effectLst/>
                <a:latin typeface="Times"/>
              </a:rPr>
              <a:t>Energy Conservation in the Indian Cement Industry</a:t>
            </a:r>
            <a:r>
              <a:rPr lang="en-US" sz="2000" b="1" dirty="0">
                <a:solidFill>
                  <a:schemeClr val="tx1"/>
                </a:solidFill>
                <a:effectLst/>
                <a:latin typeface="Times"/>
              </a:rPr>
              <a:t/>
            </a:r>
            <a:br>
              <a:rPr lang="en-US" sz="2000" b="1" dirty="0">
                <a:solidFill>
                  <a:schemeClr val="tx1"/>
                </a:solidFill>
                <a:effectLst/>
                <a:latin typeface="Times"/>
              </a:rPr>
            </a:b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B2D16E-BB7C-FAFA-1421-4918DB5E0B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IITD Advanced Certification in DS &amp; DS Batch 3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Poonam Sharma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Explore IIT Delhi Online Courses &amp; Certification | 2024">
            <a:extLst>
              <a:ext uri="{FF2B5EF4-FFF2-40B4-BE49-F238E27FC236}">
                <a16:creationId xmlns:a16="http://schemas.microsoft.com/office/drawing/2014/main" id="{D0A981C6-DFA1-D4B3-34F2-485C6CD57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7205" y="3564303"/>
            <a:ext cx="2062428" cy="2062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3599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2D5EE-E1AE-F1EB-3338-E5EEEBDD9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cap="none" dirty="0"/>
              <a:t>9 Main Elements: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F702A-CF5D-16D3-1967-A050968F7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romanLcPeriod"/>
            </a:pPr>
            <a:r>
              <a:rPr lang="en-US" i="1" dirty="0">
                <a:effectLst/>
                <a:latin typeface="Times"/>
              </a:rPr>
              <a:t>The Societal Sectors</a:t>
            </a:r>
          </a:p>
          <a:p>
            <a:pPr marL="514350" indent="-514350">
              <a:buFont typeface="+mj-lt"/>
              <a:buAutoNum type="romanLcPeriod"/>
            </a:pPr>
            <a:r>
              <a:rPr lang="en-US" i="1" dirty="0">
                <a:latin typeface="Times"/>
              </a:rPr>
              <a:t>Needs</a:t>
            </a:r>
          </a:p>
          <a:p>
            <a:pPr marL="514350" indent="-514350">
              <a:buFont typeface="+mj-lt"/>
              <a:buAutoNum type="romanLcPeriod"/>
            </a:pPr>
            <a:r>
              <a:rPr lang="en-US" i="1" dirty="0">
                <a:effectLst/>
                <a:latin typeface="Times"/>
              </a:rPr>
              <a:t>Major Constraints</a:t>
            </a:r>
          </a:p>
          <a:p>
            <a:pPr marL="514350" indent="-514350">
              <a:buFont typeface="+mj-lt"/>
              <a:buAutoNum type="romanLcPeriod"/>
            </a:pPr>
            <a:r>
              <a:rPr lang="en-US" i="1" dirty="0">
                <a:latin typeface="Times"/>
              </a:rPr>
              <a:t>Alterables</a:t>
            </a:r>
          </a:p>
          <a:p>
            <a:pPr marL="514350" indent="-514350">
              <a:buFont typeface="+mj-lt"/>
              <a:buAutoNum type="romanLcPeriod"/>
            </a:pPr>
            <a:r>
              <a:rPr lang="en-US" i="1" dirty="0">
                <a:latin typeface="Times"/>
              </a:rPr>
              <a:t>Objectives</a:t>
            </a:r>
          </a:p>
          <a:p>
            <a:pPr marL="514350" indent="-514350">
              <a:buFont typeface="+mj-lt"/>
              <a:buAutoNum type="romanLcPeriod"/>
            </a:pPr>
            <a:r>
              <a:rPr lang="en-US" i="1" dirty="0">
                <a:latin typeface="Times"/>
              </a:rPr>
              <a:t>Objective Measures</a:t>
            </a:r>
          </a:p>
          <a:p>
            <a:pPr marL="514350" indent="-514350">
              <a:buFont typeface="+mj-lt"/>
              <a:buAutoNum type="romanLcPeriod"/>
            </a:pPr>
            <a:r>
              <a:rPr lang="en-US" i="1" dirty="0">
                <a:latin typeface="Times"/>
              </a:rPr>
              <a:t>Activity</a:t>
            </a:r>
          </a:p>
          <a:p>
            <a:pPr marL="514350" indent="-514350">
              <a:buFont typeface="+mj-lt"/>
              <a:buAutoNum type="romanLcPeriod"/>
            </a:pPr>
            <a:r>
              <a:rPr lang="en-US" i="1" dirty="0">
                <a:latin typeface="Times"/>
              </a:rPr>
              <a:t>Activity Measures</a:t>
            </a:r>
          </a:p>
          <a:p>
            <a:pPr marL="514350" indent="-514350">
              <a:buFont typeface="+mj-lt"/>
              <a:buAutoNum type="romanLcPeriod"/>
            </a:pPr>
            <a:r>
              <a:rPr lang="en-US" i="1" dirty="0">
                <a:latin typeface="Times"/>
              </a:rPr>
              <a:t>Agencies</a:t>
            </a:r>
          </a:p>
          <a:p>
            <a:pPr marL="514350" indent="-514350">
              <a:buFont typeface="+mj-lt"/>
              <a:buAutoNum type="romanLcPeriod"/>
            </a:pPr>
            <a:endParaRPr lang="en-US" i="1" dirty="0">
              <a:latin typeface="Times"/>
            </a:endParaRPr>
          </a:p>
          <a:p>
            <a:pPr marL="514350" indent="-514350">
              <a:buFont typeface="+mj-lt"/>
              <a:buAutoNum type="romanLcPeriod"/>
            </a:pPr>
            <a:endParaRPr lang="en-US" i="1" dirty="0">
              <a:effectLst/>
              <a:latin typeface="Times"/>
            </a:endParaRPr>
          </a:p>
          <a:p>
            <a:pPr marL="514350" indent="-514350">
              <a:buFont typeface="+mj-lt"/>
              <a:buAutoNum type="romanLcPeriod"/>
            </a:pPr>
            <a:endParaRPr lang="en-US" i="1" dirty="0">
              <a:effectLst/>
              <a:latin typeface="Times"/>
            </a:endParaRPr>
          </a:p>
          <a:p>
            <a:pPr marL="514350" indent="-514350">
              <a:buFont typeface="+mj-lt"/>
              <a:buAutoNum type="romanLcPeriod"/>
            </a:pPr>
            <a:endParaRPr lang="en-US" dirty="0">
              <a:effectLst/>
              <a:latin typeface="Times"/>
            </a:endParaRPr>
          </a:p>
          <a:p>
            <a:pPr marL="514350" indent="-514350">
              <a:buFont typeface="+mj-lt"/>
              <a:buAutoNum type="romanLcPeriod"/>
            </a:pPr>
            <a:endParaRPr lang="en-US" dirty="0"/>
          </a:p>
        </p:txBody>
      </p:sp>
      <p:pic>
        <p:nvPicPr>
          <p:cNvPr id="4" name="Picture 4" descr="Explore IIT Delhi Online Courses &amp; Certification | 2024">
            <a:extLst>
              <a:ext uri="{FF2B5EF4-FFF2-40B4-BE49-F238E27FC236}">
                <a16:creationId xmlns:a16="http://schemas.microsoft.com/office/drawing/2014/main" id="{39559EBC-9501-AAA2-DA12-586C7BD3B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268" y="5458997"/>
            <a:ext cx="1481270" cy="1481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3699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EE309E-18AC-5A7B-A921-EE7C656C4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FA87E-C920-DC06-C826-C8C038F45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cap="none" dirty="0"/>
              <a:t>Understanding Program Planning Linkages: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F7D2B-5664-2391-4463-D51BE7C67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i="1" dirty="0">
                <a:latin typeface="Times"/>
              </a:rPr>
              <a:t>Key Insights: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400" b="1" i="1" dirty="0">
                <a:latin typeface="Times"/>
              </a:rPr>
              <a:t>Comprehensive Analysis</a:t>
            </a:r>
            <a:r>
              <a:rPr lang="en-US" sz="2400" i="1" dirty="0">
                <a:latin typeface="Times"/>
              </a:rPr>
              <a:t>: Examines interplay between program elements and agency roles.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400" b="1" i="1" dirty="0">
                <a:latin typeface="Times"/>
              </a:rPr>
              <a:t>Effectiveness Issue</a:t>
            </a:r>
            <a:r>
              <a:rPr lang="en-US" sz="2400" i="1" dirty="0">
                <a:latin typeface="Times"/>
              </a:rPr>
              <a:t>: Lack of hierarchical structure among </a:t>
            </a:r>
            <a:r>
              <a:rPr lang="en-US" sz="2400" i="1" dirty="0" err="1">
                <a:latin typeface="Times"/>
              </a:rPr>
              <a:t>subelements</a:t>
            </a:r>
            <a:r>
              <a:rPr lang="en-US" sz="2400" i="1" dirty="0">
                <a:latin typeface="Times"/>
              </a:rPr>
              <a:t>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400" b="1" i="1" dirty="0">
                <a:latin typeface="Times"/>
              </a:rPr>
              <a:t>Hierarchical Understanding</a:t>
            </a:r>
            <a:r>
              <a:rPr lang="en-US" sz="2400" i="1" dirty="0">
                <a:latin typeface="Times"/>
              </a:rPr>
              <a:t>: Critical for appreciating issues, considering influence and dependencies.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400" b="1" i="1" dirty="0">
                <a:latin typeface="Times"/>
              </a:rPr>
              <a:t>Interpretive Structural Modeling (ISM): </a:t>
            </a:r>
            <a:r>
              <a:rPr lang="en-US" sz="2400" i="1" dirty="0">
                <a:latin typeface="Times"/>
              </a:rPr>
              <a:t>Aids analysis, crucial for policy formulation and strategic planning.</a:t>
            </a:r>
          </a:p>
          <a:p>
            <a:endParaRPr lang="en-US" dirty="0"/>
          </a:p>
        </p:txBody>
      </p:sp>
      <p:pic>
        <p:nvPicPr>
          <p:cNvPr id="4" name="Picture 4" descr="Explore IIT Delhi Online Courses &amp; Certification | 2024">
            <a:extLst>
              <a:ext uri="{FF2B5EF4-FFF2-40B4-BE49-F238E27FC236}">
                <a16:creationId xmlns:a16="http://schemas.microsoft.com/office/drawing/2014/main" id="{D323A636-44C8-B93C-9145-C0534C3F49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268" y="5458997"/>
            <a:ext cx="1481270" cy="1481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9736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8385A4-0D38-94D0-9A8D-D6D30781B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A8313-041A-5B13-127E-A46F0F0CE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98895"/>
            <a:ext cx="10058400" cy="1609344"/>
          </a:xfrm>
        </p:spPr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sz="4900" b="1" cap="none" dirty="0"/>
              <a:t>Interpretive Structural Modeling (ISM):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9BA2F-7A43-A85E-0DE3-4E2F26EF9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808225"/>
            <a:ext cx="9753468" cy="475087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b="1" i="1" dirty="0">
                <a:latin typeface="Times"/>
              </a:rPr>
              <a:t>Purpose: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8000" i="1" dirty="0">
                <a:latin typeface="Times"/>
              </a:rPr>
              <a:t>Understands system structure for better decision-making.</a:t>
            </a:r>
          </a:p>
          <a:p>
            <a:pPr marL="514350" indent="-514350">
              <a:buFont typeface="+mj-lt"/>
              <a:buAutoNum type="romanLcPeriod"/>
            </a:pPr>
            <a:endParaRPr lang="en-US" sz="8000" i="1" dirty="0">
              <a:latin typeface="Times"/>
            </a:endParaRPr>
          </a:p>
          <a:p>
            <a:pPr marL="0" indent="0">
              <a:buNone/>
            </a:pPr>
            <a:r>
              <a:rPr lang="en-US" sz="8000" b="1" i="1" dirty="0">
                <a:latin typeface="Times"/>
              </a:rPr>
              <a:t>Process: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8000" i="1" dirty="0">
                <a:latin typeface="Times"/>
              </a:rPr>
              <a:t>Identify elements in the system.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8000" i="1" dirty="0">
                <a:latin typeface="Times"/>
              </a:rPr>
              <a:t>Establish contextual relationships.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8000" i="1" dirty="0">
                <a:latin typeface="Times"/>
              </a:rPr>
              <a:t>Use graph theory to build a directed graph of interactions.</a:t>
            </a:r>
          </a:p>
          <a:p>
            <a:pPr marL="514350" indent="-514350">
              <a:buFont typeface="+mj-lt"/>
              <a:buAutoNum type="romanLcPeriod"/>
            </a:pPr>
            <a:endParaRPr lang="en-US" sz="8000" i="1" dirty="0">
              <a:latin typeface="Times"/>
            </a:endParaRPr>
          </a:p>
          <a:p>
            <a:pPr marL="0" indent="0">
              <a:buNone/>
            </a:pPr>
            <a:r>
              <a:rPr lang="en-US" sz="8000" b="1" i="1" dirty="0">
                <a:latin typeface="Times"/>
              </a:rPr>
              <a:t>Benefits: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8000" i="1" dirty="0">
                <a:latin typeface="Times"/>
              </a:rPr>
              <a:t>Simplifies understanding of complex systems.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8000" i="1" dirty="0">
                <a:latin typeface="Times"/>
              </a:rPr>
              <a:t>Identifies key variables and dependencies.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8000" i="1" dirty="0">
                <a:latin typeface="Times"/>
              </a:rPr>
              <a:t>Enhances decision-making.</a:t>
            </a:r>
          </a:p>
          <a:p>
            <a:endParaRPr lang="en-US" b="1" dirty="0"/>
          </a:p>
        </p:txBody>
      </p:sp>
      <p:pic>
        <p:nvPicPr>
          <p:cNvPr id="4" name="Picture 4" descr="Explore IIT Delhi Online Courses &amp; Certification | 2024">
            <a:extLst>
              <a:ext uri="{FF2B5EF4-FFF2-40B4-BE49-F238E27FC236}">
                <a16:creationId xmlns:a16="http://schemas.microsoft.com/office/drawing/2014/main" id="{97D3D599-260C-8F9F-AA30-F84A280C02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268" y="5458997"/>
            <a:ext cx="1481270" cy="1481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3190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937AB9-B2B4-259B-5D25-3F746F2D7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BABC6-EE06-405E-FF4F-6B6D81658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727"/>
            <a:ext cx="10058400" cy="1609344"/>
          </a:xfrm>
        </p:spPr>
        <p:txBody>
          <a:bodyPr>
            <a:normAutofit/>
          </a:bodyPr>
          <a:lstStyle/>
          <a:p>
            <a:r>
              <a:rPr lang="en-US" sz="4400" b="1" cap="none" dirty="0"/>
              <a:t>Hierarchy Development:</a:t>
            </a:r>
            <a:br>
              <a:rPr lang="en-US" sz="4400" b="1" cap="none" dirty="0"/>
            </a:br>
            <a:endParaRPr lang="en-US" sz="4400" cap="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1B6F4-1176-AB05-7342-25EF75E51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607005"/>
            <a:ext cx="10058400" cy="5108119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sz="4500" b="1" i="1" dirty="0">
                <a:latin typeface="Times"/>
              </a:rPr>
              <a:t>Process Overview: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4500" i="1" dirty="0">
                <a:latin typeface="Times"/>
              </a:rPr>
              <a:t>Program divided into elements and </a:t>
            </a:r>
            <a:r>
              <a:rPr lang="en-US" sz="4500" i="1" dirty="0" err="1">
                <a:latin typeface="Times"/>
              </a:rPr>
              <a:t>subelements</a:t>
            </a:r>
            <a:r>
              <a:rPr lang="en-US" sz="4500" i="1" dirty="0">
                <a:latin typeface="Times"/>
              </a:rPr>
              <a:t>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4500" i="1" dirty="0">
                <a:latin typeface="Times"/>
              </a:rPr>
              <a:t>Determine contextual relations of </a:t>
            </a:r>
            <a:r>
              <a:rPr lang="en-US" sz="4500" i="1" dirty="0" err="1">
                <a:latin typeface="Times"/>
              </a:rPr>
              <a:t>subelements</a:t>
            </a:r>
            <a:r>
              <a:rPr lang="en-US" sz="4500" i="1" dirty="0">
                <a:latin typeface="Times"/>
              </a:rPr>
              <a:t>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4500" i="1" dirty="0">
                <a:latin typeface="Times"/>
              </a:rPr>
              <a:t>Prepare Structural Self-Interaction Matrix (SSIM) and reachability matrix.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4500" i="1" dirty="0">
                <a:latin typeface="Times"/>
              </a:rPr>
              <a:t>Check and modify SSIM for transitivity rule compliance.</a:t>
            </a:r>
          </a:p>
          <a:p>
            <a:pPr marL="0" indent="0">
              <a:buNone/>
            </a:pPr>
            <a:endParaRPr lang="en-US" sz="4500" b="1" i="1" dirty="0">
              <a:latin typeface="Times"/>
            </a:endParaRPr>
          </a:p>
          <a:p>
            <a:pPr marL="0" indent="0">
              <a:buNone/>
            </a:pPr>
            <a:r>
              <a:rPr lang="en-US" sz="4500" b="1" i="1" dirty="0">
                <a:latin typeface="Times"/>
              </a:rPr>
              <a:t>Matrix Transformation: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4500" i="1" dirty="0">
                <a:latin typeface="Times"/>
              </a:rPr>
              <a:t>Transform reachability matrix into lower triangular teachability matrix.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4500" i="1" dirty="0">
                <a:latin typeface="Times"/>
              </a:rPr>
              <a:t>Develop digraph and interpretive structural model.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4500" i="1" dirty="0">
                <a:latin typeface="Times"/>
              </a:rPr>
              <a:t>Subject reachability matrix to level partitioning to arrange </a:t>
            </a:r>
            <a:r>
              <a:rPr lang="en-US" sz="4500" i="1" dirty="0" err="1">
                <a:latin typeface="Times"/>
              </a:rPr>
              <a:t>subelements</a:t>
            </a:r>
            <a:r>
              <a:rPr lang="en-US" sz="4500" i="1" dirty="0">
                <a:latin typeface="Times"/>
              </a:rPr>
              <a:t>.</a:t>
            </a:r>
          </a:p>
          <a:p>
            <a:pPr marL="0" indent="0">
              <a:buNone/>
            </a:pPr>
            <a:endParaRPr lang="en-US" sz="4500" b="1" i="1" dirty="0">
              <a:latin typeface="Times"/>
            </a:endParaRPr>
          </a:p>
          <a:p>
            <a:pPr marL="0" indent="0">
              <a:buNone/>
            </a:pPr>
            <a:r>
              <a:rPr lang="en-US" sz="4500" b="1" i="1" dirty="0">
                <a:latin typeface="Times"/>
              </a:rPr>
              <a:t>Driver Power and Dependence: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4500" i="1" dirty="0">
                <a:latin typeface="Times"/>
              </a:rPr>
              <a:t>Derived from the number of interactions in the rows (driver power) and columns (dependence) of the reachability matrix.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4500" i="1" dirty="0">
                <a:latin typeface="Times"/>
              </a:rPr>
              <a:t>Ranks </a:t>
            </a:r>
            <a:r>
              <a:rPr lang="en-US" sz="4500" i="1" dirty="0" err="1">
                <a:latin typeface="Times"/>
              </a:rPr>
              <a:t>subelements</a:t>
            </a:r>
            <a:r>
              <a:rPr lang="en-US" sz="4500" i="1" dirty="0">
                <a:latin typeface="Times"/>
              </a:rPr>
              <a:t> based on driver power, highlighting the key </a:t>
            </a:r>
            <a:r>
              <a:rPr lang="en-US" sz="4500" i="1" dirty="0" err="1">
                <a:latin typeface="Times"/>
              </a:rPr>
              <a:t>subelement</a:t>
            </a:r>
            <a:r>
              <a:rPr lang="en-US" sz="4500" i="1" dirty="0">
                <a:latin typeface="Times"/>
              </a:rPr>
              <a:t>.</a:t>
            </a:r>
          </a:p>
          <a:p>
            <a:pPr marL="514350" indent="-514350">
              <a:buFont typeface="+mj-lt"/>
              <a:buAutoNum type="romanLcPeriod"/>
            </a:pPr>
            <a:endParaRPr lang="en-US" sz="2600" i="1" dirty="0">
              <a:latin typeface="Times"/>
            </a:endParaRPr>
          </a:p>
          <a:p>
            <a:pPr marL="0" indent="0">
              <a:buNone/>
            </a:pP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4" descr="Explore IIT Delhi Online Courses &amp; Certification | 2024">
            <a:extLst>
              <a:ext uri="{FF2B5EF4-FFF2-40B4-BE49-F238E27FC236}">
                <a16:creationId xmlns:a16="http://schemas.microsoft.com/office/drawing/2014/main" id="{8294B1CC-8CE8-F6F7-FF36-6C8900EB3D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268" y="5458997"/>
            <a:ext cx="1481270" cy="1481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7565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20C8FA-C3E7-4B51-1815-136AB276B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FC081-68BD-A12A-3309-AEEE8C5DB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cap="none" dirty="0"/>
              <a:t>Classification Of </a:t>
            </a:r>
            <a:r>
              <a:rPr lang="en-US" sz="4400" b="1" cap="none" dirty="0" err="1"/>
              <a:t>Subelements</a:t>
            </a:r>
            <a:r>
              <a:rPr lang="en-US" sz="4400" b="1" cap="none" dirty="0"/>
              <a:t>:</a:t>
            </a:r>
            <a:r>
              <a:rPr lang="en-US" sz="4400" b="1" dirty="0"/>
              <a:t/>
            </a:r>
            <a:br>
              <a:rPr lang="en-US" sz="4400" b="1" dirty="0"/>
            </a:br>
            <a:endParaRPr lang="en-US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9234A-B1A2-9485-6F02-AE142DFB6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635633"/>
            <a:ext cx="9906000" cy="502234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900" b="1" i="1" dirty="0">
                <a:latin typeface="Times"/>
              </a:rPr>
              <a:t>Driver Power-Dependence Matrix:</a:t>
            </a:r>
          </a:p>
          <a:p>
            <a:pPr marL="0" indent="0">
              <a:buNone/>
            </a:pPr>
            <a:r>
              <a:rPr lang="en-US" sz="1900" i="1" dirty="0">
                <a:latin typeface="Times"/>
              </a:rPr>
              <a:t>Divides </a:t>
            </a:r>
            <a:r>
              <a:rPr lang="en-US" sz="1900" i="1" dirty="0" err="1">
                <a:latin typeface="Times"/>
              </a:rPr>
              <a:t>subelements</a:t>
            </a:r>
            <a:r>
              <a:rPr lang="en-US" sz="1900" i="1" dirty="0">
                <a:latin typeface="Times"/>
              </a:rPr>
              <a:t> into four sectors (Godet, 1985)</a:t>
            </a:r>
          </a:p>
          <a:p>
            <a:endParaRPr lang="en-US" sz="200" i="1" dirty="0">
              <a:latin typeface="Times"/>
            </a:endParaRPr>
          </a:p>
          <a:p>
            <a:pPr marL="0" indent="0">
              <a:buNone/>
            </a:pPr>
            <a:r>
              <a:rPr lang="en-US" sz="1900" b="1" i="1" dirty="0">
                <a:latin typeface="Times"/>
              </a:rPr>
              <a:t>Sector Classifications</a:t>
            </a:r>
            <a:r>
              <a:rPr lang="en-US" sz="1900" i="1" dirty="0">
                <a:latin typeface="Times"/>
              </a:rPr>
              <a:t>: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1900" i="1" dirty="0">
                <a:latin typeface="Times"/>
              </a:rPr>
              <a:t>Sector I: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US" sz="1900" i="1" dirty="0">
                <a:latin typeface="Times"/>
              </a:rPr>
              <a:t>Weak driver, weak dependent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US" sz="1900" i="1" dirty="0">
                <a:latin typeface="Times"/>
              </a:rPr>
              <a:t>Autonomous variables, few but strong links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1900" i="1" dirty="0">
                <a:latin typeface="Times"/>
              </a:rPr>
              <a:t>Sector II: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US" sz="1900" i="1" dirty="0">
                <a:latin typeface="Times"/>
              </a:rPr>
              <a:t>Weak driver, strongly dependent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US" sz="1900" i="1" dirty="0">
                <a:latin typeface="Times"/>
              </a:rPr>
              <a:t>Mainly dependent variables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1900" i="1" dirty="0">
                <a:latin typeface="Times"/>
              </a:rPr>
              <a:t>Sector III: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US" sz="1900" i="1" dirty="0">
                <a:latin typeface="Times"/>
              </a:rPr>
              <a:t>Strong driver, strongly dependent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US" sz="1900" i="1" dirty="0">
                <a:latin typeface="Times"/>
              </a:rPr>
              <a:t>Unstable linkage variables, significant impact and feedback effect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1900" i="1" dirty="0">
                <a:latin typeface="Times"/>
              </a:rPr>
              <a:t>Sector IV: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US" sz="1900" i="1" dirty="0">
                <a:latin typeface="Times"/>
              </a:rPr>
              <a:t>Strong driver, weak dependent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US" sz="1900" i="1" dirty="0">
                <a:latin typeface="Times"/>
              </a:rPr>
              <a:t>Independent variables, condition the rest of the system</a:t>
            </a:r>
          </a:p>
          <a:p>
            <a:endParaRPr lang="en-US" dirty="0"/>
          </a:p>
        </p:txBody>
      </p:sp>
      <p:pic>
        <p:nvPicPr>
          <p:cNvPr id="4" name="Picture 4" descr="Explore IIT Delhi Online Courses &amp; Certification | 2024">
            <a:extLst>
              <a:ext uri="{FF2B5EF4-FFF2-40B4-BE49-F238E27FC236}">
                <a16:creationId xmlns:a16="http://schemas.microsoft.com/office/drawing/2014/main" id="{7EEC43B3-C7C0-863F-E267-FA72411605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268" y="5458997"/>
            <a:ext cx="1481270" cy="1481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3938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6167BC-35D0-5F06-368F-85CEEB79C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3DCAA-3405-3C2F-4AA5-A322A9AE6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752" y="685800"/>
            <a:ext cx="10058400" cy="1609344"/>
          </a:xfrm>
        </p:spPr>
        <p:txBody>
          <a:bodyPr>
            <a:normAutofit fontScale="90000"/>
          </a:bodyPr>
          <a:lstStyle/>
          <a:p>
            <a:r>
              <a:rPr lang="en-US" sz="4900" b="1" cap="none" dirty="0"/>
              <a:t>Energy Conservation In The Indian Cement Industry: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D4CA1-7186-BFA4-3B4E-6DA1C4832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985962"/>
            <a:ext cx="10058400" cy="475773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600" b="1" i="1" dirty="0">
                <a:latin typeface="Times"/>
              </a:rPr>
              <a:t>Program Structure: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i="1" dirty="0">
                <a:latin typeface="Times"/>
              </a:rPr>
              <a:t>Divided into 9 elements for detailed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i="1" dirty="0">
                <a:latin typeface="Times"/>
              </a:rPr>
              <a:t>Each element further subdivided into exhaustive </a:t>
            </a:r>
            <a:r>
              <a:rPr lang="en-US" sz="2600" i="1" dirty="0" err="1">
                <a:latin typeface="Times"/>
              </a:rPr>
              <a:t>subelements</a:t>
            </a:r>
            <a:r>
              <a:rPr lang="en-US" sz="2600" i="1" dirty="0">
                <a:latin typeface="Times"/>
              </a:rPr>
              <a:t>.</a:t>
            </a:r>
          </a:p>
          <a:p>
            <a:pPr marL="0" indent="0">
              <a:buNone/>
            </a:pPr>
            <a:endParaRPr lang="en-US" sz="300" i="1" dirty="0">
              <a:latin typeface="Times"/>
            </a:endParaRPr>
          </a:p>
          <a:p>
            <a:pPr marL="0" indent="0">
              <a:buNone/>
            </a:pPr>
            <a:r>
              <a:rPr lang="en-US" sz="2600" b="1" i="1" dirty="0">
                <a:latin typeface="Times"/>
              </a:rPr>
              <a:t>Study Considerations (112 </a:t>
            </a:r>
            <a:r>
              <a:rPr lang="en-US" sz="2600" b="1" i="1" dirty="0" err="1">
                <a:latin typeface="Times"/>
              </a:rPr>
              <a:t>Subelements</a:t>
            </a:r>
            <a:r>
              <a:rPr lang="en-US" sz="2600" b="1" i="1" dirty="0">
                <a:latin typeface="Times"/>
              </a:rPr>
              <a:t>):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600" i="1" dirty="0">
                <a:latin typeface="Times"/>
              </a:rPr>
              <a:t>12 societal sectors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600" i="1" dirty="0">
                <a:latin typeface="Times"/>
              </a:rPr>
              <a:t>9 needs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600" i="1" dirty="0">
                <a:latin typeface="Times"/>
              </a:rPr>
              <a:t>12 constraints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600" i="1" dirty="0">
                <a:latin typeface="Times"/>
              </a:rPr>
              <a:t>10 </a:t>
            </a:r>
            <a:r>
              <a:rPr lang="en-US" sz="2600" i="1" dirty="0" err="1">
                <a:latin typeface="Times"/>
              </a:rPr>
              <a:t>alterables</a:t>
            </a:r>
            <a:endParaRPr lang="en-US" sz="2600" i="1" dirty="0">
              <a:latin typeface="Times"/>
            </a:endParaRPr>
          </a:p>
          <a:p>
            <a:pPr marL="571500" indent="-571500">
              <a:buFont typeface="+mj-lt"/>
              <a:buAutoNum type="romanLcPeriod"/>
            </a:pPr>
            <a:r>
              <a:rPr lang="en-US" sz="2600" i="1" dirty="0">
                <a:latin typeface="Times"/>
              </a:rPr>
              <a:t>12 objectives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600" i="1" dirty="0">
                <a:latin typeface="Times"/>
              </a:rPr>
              <a:t>10 objective measures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600" i="1" dirty="0">
                <a:latin typeface="Times"/>
              </a:rPr>
              <a:t>22 activities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600" i="1" dirty="0">
                <a:latin typeface="Times"/>
              </a:rPr>
              <a:t>15 activity measures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600" i="1" dirty="0">
                <a:latin typeface="Times"/>
              </a:rPr>
              <a:t>10 agencies</a:t>
            </a:r>
          </a:p>
          <a:p>
            <a:endParaRPr lang="en-US" dirty="0"/>
          </a:p>
        </p:txBody>
      </p:sp>
      <p:pic>
        <p:nvPicPr>
          <p:cNvPr id="4" name="Picture 4" descr="Explore IIT Delhi Online Courses &amp; Certification | 2024">
            <a:extLst>
              <a:ext uri="{FF2B5EF4-FFF2-40B4-BE49-F238E27FC236}">
                <a16:creationId xmlns:a16="http://schemas.microsoft.com/office/drawing/2014/main" id="{8B922A83-9308-567C-DE79-7BC45A30F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268" y="5458997"/>
            <a:ext cx="1481270" cy="1481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8637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0D4E9B-4618-699D-96B9-CB9579D28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261CE-39F5-47C3-5ECE-68EA9D750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41782"/>
            <a:ext cx="10058400" cy="1609344"/>
          </a:xfrm>
        </p:spPr>
        <p:txBody>
          <a:bodyPr>
            <a:normAutofit fontScale="90000"/>
          </a:bodyPr>
          <a:lstStyle/>
          <a:p>
            <a:r>
              <a:rPr lang="en-US" sz="4900" b="1" cap="none" dirty="0"/>
              <a:t>Development Of The Hierarchy Of </a:t>
            </a:r>
            <a:r>
              <a:rPr lang="en-US" sz="4900" b="1" cap="none" dirty="0" err="1"/>
              <a:t>Subelements</a:t>
            </a:r>
            <a:r>
              <a:rPr lang="en-US" sz="4900" b="1" cap="none" dirty="0"/>
              <a:t>: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3B07E-9586-A3AF-7A3F-6F030F0A4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921383"/>
            <a:ext cx="10058400" cy="50188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b="1" i="1" dirty="0">
                <a:latin typeface="Times"/>
              </a:rPr>
              <a:t>SSIM and Reachability Matrices: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1900" i="1" dirty="0">
                <a:latin typeface="Times"/>
              </a:rPr>
              <a:t>Developed using symbols V, A, X, and O.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1900" i="1" dirty="0">
                <a:latin typeface="Times"/>
              </a:rPr>
              <a:t>Reachability matrices derived by substituting symbols with 1 and 0.</a:t>
            </a:r>
          </a:p>
          <a:p>
            <a:pPr marL="514350" indent="-514350">
              <a:buFont typeface="+mj-lt"/>
              <a:buAutoNum type="romanLcPeriod"/>
            </a:pPr>
            <a:endParaRPr lang="en-US" sz="200" i="1" dirty="0">
              <a:latin typeface="Times"/>
            </a:endParaRPr>
          </a:p>
          <a:p>
            <a:pPr marL="0" indent="0">
              <a:buNone/>
            </a:pPr>
            <a:r>
              <a:rPr lang="en-US" sz="1900" b="1" i="1" dirty="0">
                <a:latin typeface="Times"/>
              </a:rPr>
              <a:t>Transitivity Rule: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1900" i="1" dirty="0">
                <a:latin typeface="Times"/>
              </a:rPr>
              <a:t>Reachability matrices checked and corrected for transitivity.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1900" i="1" dirty="0">
                <a:latin typeface="Times"/>
              </a:rPr>
              <a:t>Modifications reviewed and approved by experts.</a:t>
            </a:r>
          </a:p>
          <a:p>
            <a:pPr marL="0" indent="0">
              <a:buNone/>
            </a:pPr>
            <a:endParaRPr lang="en-US" sz="200" b="1" i="1" dirty="0">
              <a:latin typeface="Times"/>
            </a:endParaRPr>
          </a:p>
          <a:p>
            <a:pPr marL="0" indent="0">
              <a:buNone/>
            </a:pPr>
            <a:r>
              <a:rPr lang="en-US" sz="1900" b="1" i="1" dirty="0">
                <a:latin typeface="Times"/>
              </a:rPr>
              <a:t>Level Partitioning: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1900" i="1" dirty="0">
                <a:latin typeface="Times"/>
              </a:rPr>
              <a:t>Levels for </a:t>
            </a:r>
            <a:r>
              <a:rPr lang="en-US" sz="1900" i="1" dirty="0" err="1">
                <a:latin typeface="Times"/>
              </a:rPr>
              <a:t>subelements</a:t>
            </a:r>
            <a:r>
              <a:rPr lang="en-US" sz="1900" i="1" dirty="0">
                <a:latin typeface="Times"/>
              </a:rPr>
              <a:t> determined via level partitioning on reachability matrix.</a:t>
            </a:r>
          </a:p>
          <a:p>
            <a:pPr marL="0" indent="0">
              <a:buNone/>
            </a:pPr>
            <a:endParaRPr lang="en-US" sz="200" b="1" i="1" dirty="0">
              <a:latin typeface="Times"/>
            </a:endParaRPr>
          </a:p>
          <a:p>
            <a:pPr marL="0" indent="0">
              <a:buNone/>
            </a:pPr>
            <a:r>
              <a:rPr lang="en-US" sz="1900" b="1" i="1" dirty="0">
                <a:latin typeface="Times"/>
              </a:rPr>
              <a:t>Driver Power-Dependence Matrix: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1900" i="1" dirty="0">
                <a:latin typeface="Times"/>
              </a:rPr>
              <a:t>Illustrates hierarchy and ranks based on driver power.</a:t>
            </a:r>
          </a:p>
        </p:txBody>
      </p:sp>
      <p:pic>
        <p:nvPicPr>
          <p:cNvPr id="4" name="Picture 4" descr="Explore IIT Delhi Online Courses &amp; Certification | 2024">
            <a:extLst>
              <a:ext uri="{FF2B5EF4-FFF2-40B4-BE49-F238E27FC236}">
                <a16:creationId xmlns:a16="http://schemas.microsoft.com/office/drawing/2014/main" id="{DD374216-6D88-49A8-E920-CFF7528EC7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268" y="5458997"/>
            <a:ext cx="1481270" cy="1481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1955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15739B-8614-BC07-3AFF-0EB226FA3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5EED7-6C2C-1ECE-06FF-B049E0243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41745"/>
            <a:ext cx="10058400" cy="1609344"/>
          </a:xfrm>
        </p:spPr>
        <p:txBody>
          <a:bodyPr>
            <a:normAutofit/>
          </a:bodyPr>
          <a:lstStyle/>
          <a:p>
            <a:r>
              <a:rPr lang="en-US" sz="4400" b="1" cap="none" dirty="0"/>
              <a:t>Classification Of </a:t>
            </a:r>
            <a:r>
              <a:rPr lang="en-US" sz="4400" b="1" cap="none" dirty="0" err="1"/>
              <a:t>Subelements</a:t>
            </a:r>
            <a:r>
              <a:rPr lang="en-US" sz="4400" b="1" cap="none" dirty="0"/>
              <a:t>:</a:t>
            </a:r>
            <a:br>
              <a:rPr lang="en-US" sz="4400" b="1" cap="none" dirty="0"/>
            </a:br>
            <a:endParaRPr lang="en-US" sz="4400" cap="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0DB85-0A78-F21C-6ADD-1233D55AF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392745"/>
            <a:ext cx="10058400" cy="533666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200" b="1" i="1" dirty="0">
                <a:latin typeface="Times"/>
              </a:rPr>
              <a:t>Driver Power-Dependence Matrices: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i="1" dirty="0">
                <a:latin typeface="Times"/>
              </a:rPr>
              <a:t>Classify </a:t>
            </a:r>
            <a:r>
              <a:rPr lang="en-US" sz="2200" i="1" dirty="0" err="1">
                <a:latin typeface="Times"/>
              </a:rPr>
              <a:t>subelements</a:t>
            </a:r>
            <a:r>
              <a:rPr lang="en-US" sz="2200" i="1" dirty="0">
                <a:latin typeface="Times"/>
              </a:rPr>
              <a:t> into four sectors for nine elements.</a:t>
            </a:r>
          </a:p>
          <a:p>
            <a:pPr marL="0" indent="0">
              <a:buNone/>
            </a:pPr>
            <a:endParaRPr lang="en-US" sz="300" b="1" i="1" dirty="0">
              <a:latin typeface="Times"/>
            </a:endParaRPr>
          </a:p>
          <a:p>
            <a:pPr marL="0" indent="0">
              <a:buNone/>
            </a:pPr>
            <a:r>
              <a:rPr lang="en-US" sz="2200" b="1" i="1" dirty="0">
                <a:latin typeface="Times"/>
              </a:rPr>
              <a:t>Sector Classifications: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2200" i="1" dirty="0">
                <a:latin typeface="Times"/>
              </a:rPr>
              <a:t>Linkage Variables (Strong driver, strong dependence):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US" sz="2200" i="1" dirty="0">
                <a:latin typeface="Times"/>
              </a:rPr>
              <a:t>Convert Wet to Dry Process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US" sz="2200" i="1" dirty="0">
                <a:latin typeface="Times"/>
              </a:rPr>
              <a:t>Conserve Energy by Waste Management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US" sz="2200" i="1" dirty="0">
                <a:latin typeface="Times"/>
              </a:rPr>
              <a:t>Adequate Supply of Coal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US" sz="2200" i="1" dirty="0">
                <a:latin typeface="Times"/>
              </a:rPr>
              <a:t>Adequate Electricity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US" sz="2200" i="1" dirty="0">
                <a:latin typeface="Times"/>
              </a:rPr>
              <a:t>Install Captive Power Plants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2200" i="1" dirty="0">
                <a:latin typeface="Times"/>
              </a:rPr>
              <a:t>Independent Variables (Strong driver, weak dependence):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US" sz="2200" i="1" dirty="0">
                <a:latin typeface="Times"/>
              </a:rPr>
              <a:t>Develop Energy-Efficient System/Equipment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US" sz="2200" i="1" dirty="0">
                <a:latin typeface="Times"/>
              </a:rPr>
              <a:t>Apply Computers/Instrumentation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US" sz="2200" i="1" dirty="0">
                <a:latin typeface="Times"/>
              </a:rPr>
              <a:t>Develop Sound Energy Policy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US" sz="2200" i="1" dirty="0">
                <a:latin typeface="Times"/>
              </a:rPr>
              <a:t>Train Manpower in Energy Conservation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2200" i="1" dirty="0">
                <a:latin typeface="Times"/>
              </a:rPr>
              <a:t>Dependent Variables (Weak driver, strong dependence):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US" sz="2200" i="1" dirty="0">
                <a:latin typeface="Times"/>
              </a:rPr>
              <a:t>Utilize Energy Efficiently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US" sz="2200" i="1" dirty="0">
                <a:latin typeface="Times"/>
              </a:rPr>
              <a:t>Improve Quality of Coal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US" sz="2200" i="1" dirty="0">
                <a:latin typeface="Times"/>
              </a:rPr>
              <a:t>Increase Capacity Utilization</a:t>
            </a:r>
          </a:p>
          <a:p>
            <a:endParaRPr lang="en-US" dirty="0"/>
          </a:p>
        </p:txBody>
      </p:sp>
      <p:pic>
        <p:nvPicPr>
          <p:cNvPr id="4" name="Picture 4" descr="Explore IIT Delhi Online Courses &amp; Certification | 2024">
            <a:extLst>
              <a:ext uri="{FF2B5EF4-FFF2-40B4-BE49-F238E27FC236}">
                <a16:creationId xmlns:a16="http://schemas.microsoft.com/office/drawing/2014/main" id="{C5CFE9CE-0F99-AB36-74F2-3DD974DC95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268" y="5458997"/>
            <a:ext cx="1481270" cy="1481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1564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42216A-28E6-41EC-ED8F-B843DAC06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A7B88-CE6E-2EEE-A81B-6E1258DD9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214313"/>
            <a:ext cx="10058400" cy="1609344"/>
          </a:xfrm>
        </p:spPr>
        <p:txBody>
          <a:bodyPr>
            <a:normAutofit/>
          </a:bodyPr>
          <a:lstStyle/>
          <a:p>
            <a:r>
              <a:rPr lang="en-US" sz="4400" b="1" cap="none" dirty="0"/>
              <a:t>Findings</a:t>
            </a:r>
            <a:r>
              <a:rPr lang="en-US" sz="4400" b="1" dirty="0"/>
              <a:t/>
            </a:r>
            <a:br>
              <a:rPr lang="en-US" sz="4400" b="1" dirty="0"/>
            </a:br>
            <a:endParaRPr lang="en-US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E7A03-6E92-8D83-6E5C-221D0BDE6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789" y="1385888"/>
            <a:ext cx="10234480" cy="6015037"/>
          </a:xfrm>
        </p:spPr>
        <p:txBody>
          <a:bodyPr>
            <a:noAutofit/>
          </a:bodyPr>
          <a:lstStyle/>
          <a:p>
            <a:pPr marL="571500" indent="-571500">
              <a:buFont typeface="+mj-lt"/>
              <a:buAutoNum type="romanUcPeriod"/>
            </a:pPr>
            <a:r>
              <a:rPr lang="en-US" sz="1800" b="1" i="1" dirty="0">
                <a:latin typeface="Times"/>
              </a:rPr>
              <a:t>Key Societal Sector: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US" i="1" dirty="0">
                <a:latin typeface="Times"/>
              </a:rPr>
              <a:t>National Council for Cement and Building Materials (NCB) is an independent variable.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US" i="1" dirty="0">
                <a:latin typeface="Times"/>
              </a:rPr>
              <a:t>Influences sectors like cement units, electricity boards, coal companies, etc.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1800" b="1" i="1" dirty="0">
                <a:latin typeface="Times"/>
              </a:rPr>
              <a:t>Key Need: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US" i="1" dirty="0">
                <a:latin typeface="Times"/>
              </a:rPr>
              <a:t>Instrumentation and Computer Controls, an independent variable.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1800" b="1" i="1" dirty="0">
                <a:latin typeface="Times"/>
              </a:rPr>
              <a:t>Key Constraints: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US" i="1" dirty="0">
                <a:latin typeface="Times"/>
              </a:rPr>
              <a:t>Shortage of Funds and Absence of Suitable Energy Conservation Laws, independent variables.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1800" b="1" i="1" dirty="0">
                <a:latin typeface="Times"/>
              </a:rPr>
              <a:t>Key Alterables: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US" i="1" dirty="0">
                <a:latin typeface="Times"/>
              </a:rPr>
              <a:t>Availability of Funds, Transport Bottlenecks, Government Regulations and Laws, Change in Technology, Instrumentation and Automation.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US" i="1" dirty="0">
                <a:latin typeface="Times"/>
              </a:rPr>
              <a:t>Linkage variables impacting energy consumption.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1800" b="1" i="1" dirty="0">
                <a:latin typeface="Times"/>
              </a:rPr>
              <a:t>Key Objectives: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US" i="1" dirty="0">
                <a:latin typeface="Times"/>
              </a:rPr>
              <a:t>To Develop Sound Energy Policy and Training of Manpower in Energy Conservation, independent variables.</a:t>
            </a:r>
          </a:p>
          <a:p>
            <a:pPr marL="1028700" lvl="1" indent="-571500">
              <a:buFont typeface="+mj-lt"/>
              <a:buAutoNum type="romanLcPeriod"/>
            </a:pPr>
            <a:endParaRPr lang="en-US" sz="1600" i="1" dirty="0">
              <a:latin typeface="Times"/>
            </a:endParaRPr>
          </a:p>
          <a:p>
            <a:pPr marL="1028700" lvl="1" indent="-571500">
              <a:buFont typeface="+mj-lt"/>
              <a:buAutoNum type="romanLcPeriod"/>
            </a:pPr>
            <a:endParaRPr lang="en-US" sz="1600" i="1" dirty="0">
              <a:latin typeface="Times"/>
            </a:endParaRPr>
          </a:p>
        </p:txBody>
      </p:sp>
      <p:pic>
        <p:nvPicPr>
          <p:cNvPr id="4" name="Picture 4" descr="Explore IIT Delhi Online Courses &amp; Certification | 2024">
            <a:extLst>
              <a:ext uri="{FF2B5EF4-FFF2-40B4-BE49-F238E27FC236}">
                <a16:creationId xmlns:a16="http://schemas.microsoft.com/office/drawing/2014/main" id="{F6A41015-1964-B0EF-7EB6-291095A3E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268" y="5458997"/>
            <a:ext cx="1481270" cy="1481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4908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06E1B5-C867-62F2-AED5-9EBFFA33A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24EF5-3A09-547B-A3D7-317C224EB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026" y="571500"/>
            <a:ext cx="10058400" cy="1609344"/>
          </a:xfrm>
        </p:spPr>
        <p:txBody>
          <a:bodyPr>
            <a:normAutofit/>
          </a:bodyPr>
          <a:lstStyle/>
          <a:p>
            <a:r>
              <a:rPr lang="en-US" sz="4400" b="1" cap="none" dirty="0"/>
              <a:t>Findings </a:t>
            </a:r>
            <a:r>
              <a:rPr lang="en-US" sz="4400" b="1" cap="none" dirty="0" err="1"/>
              <a:t>contd</a:t>
            </a:r>
            <a:r>
              <a:rPr lang="en-US" sz="4400" b="1" cap="none" dirty="0"/>
              <a:t>…</a:t>
            </a:r>
            <a:r>
              <a:rPr lang="en-US" sz="4400" b="1" dirty="0"/>
              <a:t/>
            </a:r>
            <a:br>
              <a:rPr lang="en-US" sz="4400" b="1" dirty="0"/>
            </a:br>
            <a:endParaRPr lang="en-US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B04A9-DB9C-864D-A90F-14567551B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2026" y="1843089"/>
            <a:ext cx="10058400" cy="6015037"/>
          </a:xfrm>
        </p:spPr>
        <p:txBody>
          <a:bodyPr>
            <a:noAutofit/>
          </a:bodyPr>
          <a:lstStyle/>
          <a:p>
            <a:pPr marL="571500" indent="-571500">
              <a:buFont typeface="+mj-lt"/>
              <a:buAutoNum type="romanUcPeriod" startAt="6"/>
            </a:pPr>
            <a:r>
              <a:rPr lang="en-US" sz="1800" b="1" i="1" dirty="0">
                <a:latin typeface="Times"/>
              </a:rPr>
              <a:t>Key Objective Measure: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US" i="1" dirty="0">
                <a:latin typeface="Times"/>
              </a:rPr>
              <a:t>Number of Engineers and Managers in Energy Conservation, an independent variable.</a:t>
            </a:r>
          </a:p>
          <a:p>
            <a:pPr marL="571500" indent="-571500">
              <a:buFont typeface="+mj-lt"/>
              <a:buAutoNum type="romanUcPeriod" startAt="6"/>
            </a:pPr>
            <a:r>
              <a:rPr lang="en-US" sz="1800" b="1" i="1" dirty="0">
                <a:latin typeface="Times"/>
              </a:rPr>
              <a:t>Key Activity: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US" i="1" dirty="0">
                <a:latin typeface="Times"/>
              </a:rPr>
              <a:t>Organizing Workshops/Seminars, closely related to Training of Manpower in Energy Conservation, independent variable.</a:t>
            </a:r>
          </a:p>
          <a:p>
            <a:pPr marL="571500" indent="-571500">
              <a:buFont typeface="+mj-lt"/>
              <a:buAutoNum type="romanUcPeriod" startAt="6"/>
            </a:pPr>
            <a:r>
              <a:rPr lang="en-US" sz="1800" b="1" i="1" dirty="0">
                <a:latin typeface="Times"/>
              </a:rPr>
              <a:t>Key Activity Measure: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US" i="1" dirty="0">
                <a:latin typeface="Times"/>
              </a:rPr>
              <a:t>Number of Seminars Organized, an independent variable.</a:t>
            </a:r>
          </a:p>
          <a:p>
            <a:pPr marL="571500" indent="-571500">
              <a:buFont typeface="+mj-lt"/>
              <a:buAutoNum type="romanUcPeriod" startAt="6"/>
            </a:pPr>
            <a:r>
              <a:rPr lang="en-US" sz="1800" b="1" i="1" dirty="0">
                <a:latin typeface="Times"/>
              </a:rPr>
              <a:t>Key Agency: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US" i="1" dirty="0">
                <a:latin typeface="Times"/>
              </a:rPr>
              <a:t>NCB assists all other agencies in energy conservation, an independent variable.</a:t>
            </a:r>
          </a:p>
        </p:txBody>
      </p:sp>
      <p:pic>
        <p:nvPicPr>
          <p:cNvPr id="4" name="Picture 4" descr="Explore IIT Delhi Online Courses &amp; Certification | 2024">
            <a:extLst>
              <a:ext uri="{FF2B5EF4-FFF2-40B4-BE49-F238E27FC236}">
                <a16:creationId xmlns:a16="http://schemas.microsoft.com/office/drawing/2014/main" id="{E31719C1-C8A1-B579-8524-1A0A78FDA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268" y="5458997"/>
            <a:ext cx="1481270" cy="1481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6091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5A672A-430E-4D9B-54E9-F82F68289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96874-9978-A04A-EA6F-191B5223A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56007"/>
            <a:ext cx="10058400" cy="1609344"/>
          </a:xfrm>
        </p:spPr>
        <p:txBody>
          <a:bodyPr>
            <a:normAutofit/>
          </a:bodyPr>
          <a:lstStyle/>
          <a:p>
            <a:r>
              <a:rPr lang="en-US" sz="4400" b="1" cap="none" dirty="0"/>
              <a:t>Conclusions:</a:t>
            </a:r>
            <a:endParaRPr lang="en-US" sz="4400" cap="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3C595-E193-36D7-8064-AEB9F32BE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665351"/>
            <a:ext cx="10058400" cy="459257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b="1" i="1" dirty="0">
                <a:latin typeface="Times"/>
              </a:rPr>
              <a:t>Advancement in System Analysis:</a:t>
            </a:r>
          </a:p>
          <a:p>
            <a:pPr marL="857250" lvl="1" indent="-400050">
              <a:buFont typeface="+mj-lt"/>
              <a:buAutoNum type="romanLcPeriod"/>
            </a:pPr>
            <a:r>
              <a:rPr lang="en-US" sz="2400" i="1" dirty="0">
                <a:latin typeface="Times"/>
              </a:rPr>
              <a:t>Interpretive structural modeling enhances program planning linkages.</a:t>
            </a:r>
          </a:p>
          <a:p>
            <a:pPr marL="0" indent="0">
              <a:buNone/>
            </a:pPr>
            <a:endParaRPr lang="en-US" sz="2400" i="1" dirty="0">
              <a:latin typeface="Times"/>
            </a:endParaRPr>
          </a:p>
          <a:p>
            <a:pPr marL="0" indent="0">
              <a:buNone/>
            </a:pPr>
            <a:r>
              <a:rPr lang="en-US" sz="2400" b="1" i="1" dirty="0">
                <a:latin typeface="Times"/>
              </a:rPr>
              <a:t>Driver-Power Ranks:</a:t>
            </a:r>
          </a:p>
          <a:p>
            <a:pPr marL="857250" lvl="1" indent="-400050">
              <a:buFont typeface="+mj-lt"/>
              <a:buAutoNum type="romanLcPeriod"/>
            </a:pPr>
            <a:r>
              <a:rPr lang="en-US" sz="2400" i="1" dirty="0">
                <a:latin typeface="Times"/>
              </a:rPr>
              <a:t>Derived from the reachability matrix, improving hierarchy study of </a:t>
            </a:r>
            <a:r>
              <a:rPr lang="en-US" sz="2400" i="1" dirty="0" err="1">
                <a:latin typeface="Times"/>
              </a:rPr>
              <a:t>subelements</a:t>
            </a:r>
            <a:r>
              <a:rPr lang="en-US" sz="2400" i="1" dirty="0">
                <a:latin typeface="Times"/>
              </a:rPr>
              <a:t>.</a:t>
            </a:r>
          </a:p>
          <a:p>
            <a:pPr marL="857250" lvl="1" indent="-400050">
              <a:buFont typeface="+mj-lt"/>
              <a:buAutoNum type="romanLcPeriod"/>
            </a:pPr>
            <a:r>
              <a:rPr lang="en-US" sz="2400" i="1" dirty="0">
                <a:latin typeface="Times"/>
              </a:rPr>
              <a:t>Retains merits of binary matrices and digraphs theory.</a:t>
            </a:r>
          </a:p>
          <a:p>
            <a:pPr marL="0" indent="0">
              <a:buNone/>
            </a:pPr>
            <a:endParaRPr lang="en-US" sz="2400" i="1" dirty="0">
              <a:latin typeface="Times"/>
            </a:endParaRPr>
          </a:p>
          <a:p>
            <a:pPr marL="0" indent="0">
              <a:buNone/>
            </a:pPr>
            <a:r>
              <a:rPr lang="en-US" sz="2400" b="1" i="1" dirty="0">
                <a:latin typeface="Times"/>
              </a:rPr>
              <a:t>Variable Classification:</a:t>
            </a:r>
          </a:p>
          <a:p>
            <a:pPr marL="857250" lvl="1" indent="-400050">
              <a:buFont typeface="+mj-lt"/>
              <a:buAutoNum type="romanLcPeriod"/>
            </a:pPr>
            <a:r>
              <a:rPr lang="en-US" sz="2400" i="1" dirty="0">
                <a:latin typeface="Times"/>
              </a:rPr>
              <a:t>Simple method to identify the role of each variable in the program.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i="1" dirty="0">
              <a:latin typeface="Times"/>
            </a:endParaRPr>
          </a:p>
          <a:p>
            <a:pPr marL="0" indent="0">
              <a:buNone/>
            </a:pPr>
            <a:r>
              <a:rPr lang="en-US" sz="2400" b="1" i="1" dirty="0">
                <a:latin typeface="Times"/>
              </a:rPr>
              <a:t>Overall Clarity:</a:t>
            </a:r>
          </a:p>
          <a:p>
            <a:pPr marL="857250" lvl="1" indent="-400050">
              <a:buFont typeface="+mj-lt"/>
              <a:buAutoNum type="romanLcPeriod"/>
            </a:pPr>
            <a:r>
              <a:rPr lang="en-US" sz="2400" i="1" dirty="0">
                <a:latin typeface="Times"/>
              </a:rPr>
              <a:t>Provides clear structure and relationships of </a:t>
            </a:r>
            <a:r>
              <a:rPr lang="en-US" sz="2400" i="1" dirty="0" err="1">
                <a:latin typeface="Times"/>
              </a:rPr>
              <a:t>subelements</a:t>
            </a:r>
            <a:r>
              <a:rPr lang="en-US" sz="2400" i="1" dirty="0">
                <a:latin typeface="Times"/>
              </a:rPr>
              <a:t>.</a:t>
            </a:r>
          </a:p>
          <a:p>
            <a:pPr marL="857250" lvl="1" indent="-400050">
              <a:buFont typeface="+mj-lt"/>
              <a:buAutoNum type="romanLcPeriod"/>
            </a:pPr>
            <a:r>
              <a:rPr lang="en-US" sz="2400" i="1" dirty="0">
                <a:latin typeface="Times"/>
              </a:rPr>
              <a:t>Aids in understanding program complexities and formulating accurate policies and strategies.</a:t>
            </a:r>
          </a:p>
          <a:p>
            <a:endParaRPr lang="en-US" dirty="0"/>
          </a:p>
        </p:txBody>
      </p:sp>
      <p:pic>
        <p:nvPicPr>
          <p:cNvPr id="4" name="Picture 4" descr="Explore IIT Delhi Online Courses &amp; Certification | 2024">
            <a:extLst>
              <a:ext uri="{FF2B5EF4-FFF2-40B4-BE49-F238E27FC236}">
                <a16:creationId xmlns:a16="http://schemas.microsoft.com/office/drawing/2014/main" id="{BD063026-6100-40BD-49F7-F04553ECA5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268" y="5458997"/>
            <a:ext cx="1481270" cy="1481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8880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43EB8C-A8EA-9CEF-0ADB-EC371AD6F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54FC6-2A4B-14EC-19CC-DB8F4F831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819656"/>
            <a:ext cx="10058400" cy="1609344"/>
          </a:xfrm>
        </p:spPr>
        <p:txBody>
          <a:bodyPr>
            <a:normAutofit/>
          </a:bodyPr>
          <a:lstStyle/>
          <a:p>
            <a:r>
              <a:rPr lang="en-US" sz="6000" cap="none" dirty="0">
                <a:solidFill>
                  <a:srgbClr val="C00000"/>
                </a:solidFill>
              </a:rPr>
              <a:t>Questions And Queries…</a:t>
            </a:r>
          </a:p>
        </p:txBody>
      </p:sp>
      <p:pic>
        <p:nvPicPr>
          <p:cNvPr id="4" name="Picture 4" descr="Explore IIT Delhi Online Courses &amp; Certification | 2024">
            <a:extLst>
              <a:ext uri="{FF2B5EF4-FFF2-40B4-BE49-F238E27FC236}">
                <a16:creationId xmlns:a16="http://schemas.microsoft.com/office/drawing/2014/main" id="{6AA68F87-C41B-83AF-1853-35A233A27A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268" y="5458997"/>
            <a:ext cx="1481270" cy="1481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7419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{2D03100F-96F5-5C47-BA90-7F78232DDB29}tf10001070</Template>
  <TotalTime>1317</TotalTime>
  <Words>810</Words>
  <Application>Microsoft Office PowerPoint</Application>
  <PresentationFormat>Widescreen</PresentationFormat>
  <Paragraphs>156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Rockwell</vt:lpstr>
      <vt:lpstr>Rockwell Condensed</vt:lpstr>
      <vt:lpstr>Rockwell Extra Bold</vt:lpstr>
      <vt:lpstr>Times</vt:lpstr>
      <vt:lpstr>Times New Roman</vt:lpstr>
      <vt:lpstr>Wingdings</vt:lpstr>
      <vt:lpstr>Wood Type</vt:lpstr>
      <vt:lpstr>A Case study on Energy Conservation in the Indian Cement Industry </vt:lpstr>
      <vt:lpstr>9 Main Elements:</vt:lpstr>
      <vt:lpstr>Understanding Program Planning Linkages:</vt:lpstr>
      <vt:lpstr> Interpretive Structural Modeling (ISM): </vt:lpstr>
      <vt:lpstr>Hierarchy Development: </vt:lpstr>
      <vt:lpstr>Classification Of Subelements: </vt:lpstr>
      <vt:lpstr>Energy Conservation In The Indian Cement Industry: </vt:lpstr>
      <vt:lpstr>Development Of The Hierarchy Of Subelements: </vt:lpstr>
      <vt:lpstr>Classification Of Subelements: </vt:lpstr>
      <vt:lpstr>Findings </vt:lpstr>
      <vt:lpstr>Findings contd… </vt:lpstr>
      <vt:lpstr>Conclusions:</vt:lpstr>
      <vt:lpstr>Questions And Queries…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Case study on Energy Conservation in the Indian Cement Industry </dc:title>
  <dc:creator>Supriya Nandi</dc:creator>
  <cp:lastModifiedBy>Admin</cp:lastModifiedBy>
  <cp:revision>9</cp:revision>
  <dcterms:created xsi:type="dcterms:W3CDTF">2024-12-10T14:25:14Z</dcterms:created>
  <dcterms:modified xsi:type="dcterms:W3CDTF">2026-03-16T11:43:30Z</dcterms:modified>
</cp:coreProperties>
</file>